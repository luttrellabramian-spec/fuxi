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182880" y="274320"/>
            <a:ext cx="182880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1783080" y="274320"/>
            <a:ext cx="1783080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3383280" y="274320"/>
            <a:ext cx="3383280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4983480" y="274320"/>
            <a:ext cx="4983480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6583680" y="274320"/>
            <a:ext cx="6583680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8183879" y="274320"/>
            <a:ext cx="8183879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9784080" y="274320"/>
            <a:ext cx="9784080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11384280" y="274320"/>
            <a:ext cx="11384280" cy="6583680"/>
          </a:xfrm>
          <a:prstGeom prst="lineInv">
            <a:avLst/>
          </a:prstGeom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987552"/>
            <a:ext cx="73152" cy="438912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93268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C68A2E"/>
                </a:solidFill>
                <a:latin typeface="Microsoft YaHei"/>
              </a:rPr>
              <a:t>FUXI / 伏羲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46304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自进化 AI Agent 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542032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EFE7DA"/>
                </a:solidFill>
                <a:latin typeface="Microsoft YaHei"/>
              </a:rPr>
              <a:t>从“会对话”走向“会记忆、会工具、会记录、会优化”的长期协作系统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37560"/>
            <a:ext cx="1536192" cy="329184"/>
          </a:xfrm>
          <a:prstGeom prst="roundRect">
            <a:avLst>
              <a:gd name="adj" fmla="val 45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10712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v0.2.5 WIP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3337560"/>
            <a:ext cx="1536192" cy="329184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3410712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Python + TypeScript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3337560"/>
            <a:ext cx="1536192" cy="329184"/>
          </a:xfrm>
          <a:prstGeom prst="roundRect">
            <a:avLst>
              <a:gd name="adj" fmla="val 45000"/>
            </a:avLst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410712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gRPC +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89904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EFE7DA"/>
                </a:solidFill>
                <a:latin typeface="Microsoft YaHei"/>
              </a:rPr>
              <a:t>项目汇报 · 研究型工程原型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01 · 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伏羲不是普通聊天机器人，而是一套 Agent 引擎验证场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D94645"/>
                </a:solidFill>
                <a:latin typeface="Microsoft YaHei"/>
              </a:rPr>
              <a:t>一句话：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11827"/>
                </a:solidFill>
                <a:latin typeface="Microsoft YaHei"/>
              </a:rPr>
              <a:t>面向长期协作的自进化 AI Agent 引擎。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6B7280"/>
                </a:solidFill>
                <a:latin typeface="Microsoft YaHei"/>
              </a:rPr>
              <a:t>它的目标不是多回答一个问题，而是让 Agent 拥有持续工作所需的基础设施：记忆、工具、日志、反馈和迭代。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645152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4645152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28032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研究价值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30368"/>
            <a:ext cx="2862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验证 Agent 系统化能力，而非单点 prompt 技巧。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4645152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4645152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4828032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工程价值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5230368"/>
            <a:ext cx="2862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双运行时、gRPC、测试和启动脚本形成可维护工程。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4645152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4645152"/>
            <a:ext cx="73152" cy="960120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4828032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作品价值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5230368"/>
            <a:ext cx="2862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可作为 AI 产品、设计作品和技术展示的底层证据。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02 · 为什么要做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当前 AI 使用常停留在一次性问答，难以形成长期工作流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192024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91639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11827"/>
                </a:solidFill>
                <a:latin typeface="Microsoft YaHei"/>
              </a:rPr>
              <a:t>记不住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093976"/>
            <a:ext cx="1947672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</a:rPr>
              <a:t>上下文断裂，长期任务无法自然延续。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5304" y="150876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75304" y="1508760"/>
            <a:ext cx="73152" cy="19202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6" y="1691639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11827"/>
                </a:solidFill>
                <a:latin typeface="Microsoft YaHei"/>
              </a:rPr>
              <a:t>不可靠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2093976"/>
            <a:ext cx="1947672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</a:rPr>
              <a:t>工具调用、外部 API、网络错误缺乏稳定兜底。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150876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3368" y="1508760"/>
            <a:ext cx="73152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39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11827"/>
                </a:solidFill>
                <a:latin typeface="Microsoft YaHei"/>
              </a:rPr>
              <a:t>不可追踪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93976"/>
            <a:ext cx="1947672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</a:rPr>
              <a:t>失败原因缺少结构化记录，难以复盘和优化。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1432" y="150876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71432" y="1508760"/>
            <a:ext cx="73152" cy="19202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691639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11827"/>
                </a:solidFill>
                <a:latin typeface="Microsoft YaHei"/>
              </a:rPr>
              <a:t>难进化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093976"/>
            <a:ext cx="1947672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</a:rPr>
              <a:t>系统没有从历史运行中学习的闭环。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111827"/>
                </a:solidFill>
                <a:latin typeface="Microsoft YaHei"/>
              </a:rPr>
              <a:t>伏羲的核心判断：Agent 真正有用的地方，在于它能作为一个持续系统参与任务，而不是只做一次回答。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166360"/>
            <a:ext cx="8595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Microsoft YaHei"/>
              </a:rPr>
              <a:t>因此 v0.2.5 重点补齐：性能边界、执行日志、工具可靠性、记忆检索、网关降级和演化入口。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03 · 目标与验收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v0.2 阶段围绕性能优化、自进化、已有能力修复展开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333756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73152" cy="126187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性能优化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02536"/>
            <a:ext cx="2953512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热记忆 LRU、LLM 超时重试、gRPC 并发控制、温记忆检索性能。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3756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73152" cy="12618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自进化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02536"/>
            <a:ext cx="2953512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从结构化日志中分析失败模式，生成可解释、可审核的优化建议。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417320"/>
            <a:ext cx="333756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417320"/>
            <a:ext cx="73152" cy="1261872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功能修正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02536"/>
            <a:ext cx="2953512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修复 v0.1 测试中暴露的问题，保持核心能力不退化。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3101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关键验收指标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22191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114300">
              <a:lnSpc>
                <a:spcPct val="118000"/>
              </a:lnSpc>
              <a:spcAft>
                <a:spcPts val="2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热记忆：100 条 LRU / 单条 5000 char</a:t>
            </a:r>
          </a:p>
          <a:p>
            <a:pPr marL="228600" indent="-114300">
              <a:lnSpc>
                <a:spcPct val="118000"/>
              </a:lnSpc>
              <a:spcAft>
                <a:spcPts val="2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LLM：30 秒超时 / 3 次指数退避</a:t>
            </a:r>
          </a:p>
          <a:p>
            <a:pPr marL="228600" indent="-114300">
              <a:lnSpc>
                <a:spcPct val="118000"/>
              </a:lnSpc>
              <a:spcAft>
                <a:spcPts val="2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gRPC：并发上限 100 请求</a:t>
            </a:r>
          </a:p>
          <a:p>
            <a:pPr marL="228600" indent="-114300">
              <a:lnSpc>
                <a:spcPct val="118000"/>
              </a:lnSpc>
              <a:spcAft>
                <a:spcPts val="2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温记忆：FTS5 + 分页检索</a:t>
            </a:r>
          </a:p>
          <a:p>
            <a:pPr marL="228600" indent="-114300">
              <a:lnSpc>
                <a:spcPct val="118000"/>
              </a:lnSpc>
              <a:spcAft>
                <a:spcPts val="2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网关：25 秒超时保护 + 降级响应</a:t>
            </a:r>
          </a:p>
          <a:p>
            <a:pPr marL="228600" indent="-114300">
              <a:lnSpc>
                <a:spcPct val="118000"/>
              </a:lnSpc>
              <a:spcAft>
                <a:spcPts val="2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日志：JSONL 结构化记录，可用于后续分析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04 · 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TypeScript 管入口，Python 管智能核心，gRPC 负责跨运行时通信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170432"/>
            <a:ext cx="3840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307592"/>
            <a:ext cx="3566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用户 / CLI / Web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1673352"/>
            <a:ext cx="351129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输入任务、查看结果、配置模型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773936"/>
            <a:ext cx="3621024" cy="36576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01952"/>
            <a:ext cx="0" cy="36576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2267712"/>
            <a:ext cx="3840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04872"/>
            <a:ext cx="3566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TypeScript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770632"/>
            <a:ext cx="351129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HTTP / SSE / WebSocket / Settings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980944"/>
            <a:ext cx="362102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108960"/>
            <a:ext cx="0" cy="38404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60520" y="3493008"/>
            <a:ext cx="3840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630168"/>
            <a:ext cx="3566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gRPC + Protocol Buffers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995928"/>
            <a:ext cx="3511296" cy="640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跨语言协议边界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4023360"/>
            <a:ext cx="3621024" cy="36576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080760" y="4151376"/>
            <a:ext cx="0" cy="347472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60520" y="4498848"/>
            <a:ext cx="3840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4636008"/>
            <a:ext cx="3566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Python Fuxi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5001768"/>
            <a:ext cx="3511296" cy="274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ReAct / Tool Executor / LLM / Selector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5239512"/>
            <a:ext cx="3621024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5376672"/>
            <a:ext cx="1783080" cy="3383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5376672"/>
            <a:ext cx="0" cy="3383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60920" y="5376672"/>
            <a:ext cx="1783080" cy="3383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325880" y="5715000"/>
            <a:ext cx="2057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39" y="5852160"/>
            <a:ext cx="1783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热记忆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0472" y="6217920"/>
            <a:ext cx="1728216" cy="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当前会话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35607" y="6181344"/>
            <a:ext cx="1837943" cy="36576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47488" y="5715000"/>
            <a:ext cx="2057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84648" y="5852160"/>
            <a:ext cx="1783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温记忆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9" y="6217920"/>
            <a:ext cx="1728216" cy="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近期上下文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57216" y="6181344"/>
            <a:ext cx="1837943" cy="36576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59952" y="5715000"/>
            <a:ext cx="2057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97112" y="5852160"/>
            <a:ext cx="1783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冷记忆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6217920"/>
            <a:ext cx="1728216" cy="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长期知识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6181344"/>
            <a:ext cx="1837943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05 · 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伏羲的能力不是一个 prompt，而是一组可维护模块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02536"/>
            <a:ext cx="2862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HTTP、SSE、WebSocket、设置页、限流和降级。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41732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3128" y="1417320"/>
            <a:ext cx="73152" cy="141732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Core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02536"/>
            <a:ext cx="2862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ReAct 主循环、会话上下文、工具调度。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41732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417320"/>
            <a:ext cx="73152" cy="1417320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LLM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02536"/>
            <a:ext cx="2862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OpenAI 兼容 API、超时、重试、Circuit Breaker。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2900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429000"/>
            <a:ext cx="73152" cy="14173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1188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Tool Executor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14215"/>
            <a:ext cx="2862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参数校验、去重、缓存、并发和执行追踪。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42900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3128" y="3429000"/>
            <a:ext cx="73152" cy="141732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1188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14215"/>
            <a:ext cx="2862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Hot / Warm / Cold 三层记忆，兼顾速度与长期沉淀。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42900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3429000"/>
            <a:ext cx="73152" cy="141732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61188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Evolution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14215"/>
            <a:ext cx="2862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查询分类、策略画像、工具排序、记忆优化和行为演化。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06 · 三层记忆系统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让 Agent 的上下文从短期响应走向长期协作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0175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73152" cy="306324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64592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热记忆 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048256"/>
            <a:ext cx="2633472" cy="231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面向当前会话。
LRU 淘汰、大小上限、快速读取，避免无限增长。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0175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73152" cy="3063240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64592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温记忆 Warm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048256"/>
            <a:ext cx="2633472" cy="231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面向近期上下文。
SQLite FTS5、BM25 排序、分页，适合搜索最近经验。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30175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73152" cy="30632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64592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冷记忆 Cold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048256"/>
            <a:ext cx="2633472" cy="231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面向长期知识。
用于沉淀语义记忆和跨会话知识，为后续产品化预留空间。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2971800"/>
            <a:ext cx="54864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35240" y="2971800"/>
            <a:ext cx="548639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5230368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>
                <a:solidFill>
                  <a:srgbClr val="111827"/>
                </a:solidFill>
                <a:latin typeface="Microsoft YaHei"/>
              </a:rPr>
              <a:t>设计重点：既要让当前对话足够快，也要让系统能逐步形成“可检索的经验”。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07 · 工具执行闭环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从“能调用工具”升级到“能可靠地管理工具”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任务理解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1362456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识别用户意图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916936"/>
            <a:ext cx="1472184" cy="36576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432304" y="2496312"/>
            <a:ext cx="329184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96596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03120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工具选择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68880"/>
            <a:ext cx="1362456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Selector 排序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916936"/>
            <a:ext cx="1472184" cy="36576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535424" y="2496312"/>
            <a:ext cx="329184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37760" y="196596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103120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执行保护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468880"/>
            <a:ext cx="1362456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超时/重试/校验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2916936"/>
            <a:ext cx="1472184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638544" y="2496312"/>
            <a:ext cx="329184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40880" y="196596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103120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结果回写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468880"/>
            <a:ext cx="1362456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记忆与日志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8" y="2916936"/>
            <a:ext cx="147218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741664" y="2496312"/>
            <a:ext cx="329184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0" y="196596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103120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反馈优化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468880"/>
            <a:ext cx="1362456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成功率追踪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53728" y="2916936"/>
            <a:ext cx="1472184" cy="36576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16052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Microsoft YaHei"/>
              </a:rPr>
              <a:t>工具层不是简单调用函数，而是把每次执行都纳入可观察、可复盘、可降权的系统。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Microsoft YaHei"/>
              </a:rPr>
              <a:t>这为后续“哪类工具容易失败、哪种策略更有效”提供了数据基础。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08 ·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自动分析，但不自动越权修改核心系统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737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结构化日志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16824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JSONL 记录每轮执行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2432303"/>
            <a:ext cx="1792224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880360" y="2103120"/>
            <a:ext cx="77724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783080"/>
            <a:ext cx="1737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失败模式分析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2148840"/>
            <a:ext cx="16824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timeout / tool_failure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3048" y="2432303"/>
            <a:ext cx="1792224" cy="36576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103120"/>
            <a:ext cx="77724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1737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优化建议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148840"/>
            <a:ext cx="16824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策略、工具、记忆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93408" y="2432303"/>
            <a:ext cx="1792224" cy="36576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41080" y="2103120"/>
            <a:ext cx="77724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6404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783080"/>
            <a:ext cx="1737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11827"/>
                </a:solidFill>
                <a:latin typeface="Microsoft YaHei"/>
              </a:rPr>
              <a:t>人工确认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2148840"/>
            <a:ext cx="16824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可解释、可回滚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3767" y="2432303"/>
            <a:ext cx="1792224" cy="3657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38404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3840480"/>
            <a:ext cx="73152" cy="123444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023360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边界原则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425696"/>
            <a:ext cx="437083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系统可以生成建议，但生产行为需要人工审核。进化优化能力，不改变核心定位。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8404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840480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4023360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设计意义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4425696"/>
            <a:ext cx="437083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避免 Agent 自行改写自身目标，同时保留持续变强的工程入口。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09 · 当前验证结果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v0.2.5 已形成一条可重复检查的核心路径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5803D"/>
                </a:solidFill>
                <a:latin typeface="Microsoft YaHei"/>
              </a:rPr>
              <a:t>已通过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73152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574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TypeScript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59736"/>
            <a:ext cx="286207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`npm run build` 通过，网关代码可编译。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74519"/>
            <a:ext cx="73152" cy="132588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574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Python 核心测试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459736"/>
            <a:ext cx="286207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热记忆、温记忆、工具注册：115 passed。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73152" cy="13258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574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核心检查脚本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59736"/>
            <a:ext cx="286207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`scripts/check_core.ps1` 一键验证基础路径。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版本与提交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9875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114300">
              <a:lnSpc>
                <a:spcPct val="118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当前版本：v0.2.5 WIP</a:t>
            </a:r>
          </a:p>
          <a:p>
            <a:pPr marL="228600" indent="-114300">
              <a:lnSpc>
                <a:spcPct val="118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最新提交：cbeb52c chore: prepare Fuxi v0.2.5 workspace</a:t>
            </a:r>
          </a:p>
          <a:p>
            <a:pPr marL="228600" indent="-114300">
              <a:lnSpc>
                <a:spcPct val="118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</a:rPr>
              <a:t>• 项目根目录：fuxi_v0.2.5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10 · 演示路径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把工程能力变成能被别人看懂的操作流程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23444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600200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1. 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002536"/>
            <a:ext cx="27249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Windows 根目录运行：
.\start.bat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600200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2. 访问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002536"/>
            <a:ext cx="27249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http://localhost:18789/chat/ui
/settings/ui
/health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600200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3. 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002536"/>
            <a:ext cx="27249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</a:rPr>
              <a:t>一次对话、一次工具调用、一次记忆写入、一次日志查看。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307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汇报 Demo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650" b="0">
                <a:solidFill>
                  <a:srgbClr val="6B7280"/>
                </a:solidFill>
                <a:latin typeface="Microsoft YaHei"/>
              </a:rPr>
              <a:t>不要从代码开始讲，先让观众看到“输入任务 → Agent 调用工具 → 写入记忆 → 可追踪日志”。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650" b="0">
                <a:solidFill>
                  <a:srgbClr val="6B7280"/>
                </a:solidFill>
                <a:latin typeface="Microsoft YaHei"/>
              </a:rPr>
              <a:t>汇报时强调：伏羲的价值在于系统闭环，而不只是一次回答的质量。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11 · 当前限制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原型已成型，但离可发布产品还有几处关键距离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4892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73152" cy="123444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73736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11827"/>
                </a:solidFill>
                <a:latin typeface="Microsoft YaHei"/>
              </a:rPr>
              <a:t>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139696"/>
            <a:ext cx="450799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认证、鉴权、工具权限和公网暴露策略仍需加强。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4892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73152" cy="12344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73736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11827"/>
                </a:solidFill>
                <a:latin typeface="Microsoft YaHei"/>
              </a:rP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139696"/>
            <a:ext cx="450799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网关内嵌 UI 较多，后续应拆成独立产品界面。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4892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2900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61188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11827"/>
                </a:solidFill>
                <a:latin typeface="Microsoft YaHei"/>
              </a:rPr>
              <a:t>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014215"/>
            <a:ext cx="450799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完整测试包含真实 API / MCP / 安全场景，需要分层标记。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429000"/>
            <a:ext cx="4892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429000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61188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11827"/>
                </a:solidFill>
                <a:latin typeface="Microsoft YaHei"/>
              </a:rPr>
              <a:t>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014215"/>
            <a:ext cx="450799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需要固定演示数据、启动脚本和 Demo 流程。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827"/>
                </a:solidFill>
                <a:latin typeface="Microsoft YaHei"/>
              </a:rPr>
              <a:t>12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从工程原型，走向可展示产品与作品集核心案例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4572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822960"/>
          </a:xfrm>
          <a:prstGeom prst="rect">
            <a:avLst/>
          </a:prstGeom>
          <a:solidFill>
            <a:srgbClr val="D94645"/>
          </a:solidFill>
          <a:ln>
            <a:solidFill>
              <a:srgbClr val="D94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508760"/>
            <a:ext cx="10040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绿色演示路径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911095"/>
            <a:ext cx="1004011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start.bat → /health → /chat/ui → 工具 → 记忆 → 日志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96312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96312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679192"/>
            <a:ext cx="10040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UI 产品化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81528"/>
            <a:ext cx="1004011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拆出独立前端，让伏羲有一个真正可展示的界面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66744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66744"/>
            <a:ext cx="73152" cy="822960"/>
          </a:xfrm>
          <a:prstGeom prst="rect">
            <a:avLst/>
          </a:prstGeom>
          <a:solidFill>
            <a:srgbClr val="C68A2E"/>
          </a:solidFill>
          <a:ln>
            <a:solidFill>
              <a:srgbClr val="C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849624"/>
            <a:ext cx="10040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测试分层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251959"/>
            <a:ext cx="1004011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core / integration / real_api / security 分层运行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37176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837176"/>
            <a:ext cx="73152" cy="8229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020056"/>
            <a:ext cx="10040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11827"/>
                </a:solidFill>
                <a:latin typeface="Microsoft YaHei"/>
              </a:rPr>
              <a:t>产品外壳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5422392"/>
            <a:ext cx="1004011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以“念”或“造物局 AI”承接伏羲底层能力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11827"/>
                </a:solidFill>
                <a:latin typeface="Microsoft YaHei"/>
              </a:rPr>
              <a:t>结论：伏羲已经不是想法，而是可以继续产品化、作品集化、Demo 化的底层系统。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伏羲 Fuxi v0.2.5 · AI Agent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880" b="0">
                <a:solidFill>
                  <a:srgbClr val="6B728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